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YOUR_APP_NAME.streamlit.app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858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9FF"/>
                </a:solidFill>
                <a:latin typeface="Calibri"/>
              </a:defRPr>
            </a:pPr>
            <a:r>
              <a:t>NASA C-MAPSS Turbofan Engine — PHM Dashboard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Assignment 2 · Interactive fleet health &amp; RUL briefing (Streamlit)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2148840" cy="2331720"/>
          </a:xfrm>
          <a:prstGeom prst="rect">
            <a:avLst/>
          </a:prstGeom>
          <a:solidFill>
            <a:srgbClr val="0F1419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435608"/>
            <a:ext cx="19659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</a:defRPr>
            </a:pPr>
            <a:r>
              <a:t>APPEARANCE</a:t>
            </a:r>
          </a:p>
          <a:p>
            <a:pPr>
              <a:spcBef>
                <a:spcPts val="400"/>
              </a:spcBef>
              <a:defRPr sz="1000">
                <a:solidFill>
                  <a:srgbClr val="E5E7EB"/>
                </a:solidFill>
              </a:defRPr>
            </a:pPr>
            <a:r>
              <a:t>Dark · Light</a:t>
            </a:r>
          </a:p>
          <a:p>
            <a:pPr>
              <a:spcBef>
                <a:spcPts val="1000"/>
              </a:spcBef>
              <a:defRPr sz="800" b="1">
                <a:solidFill>
                  <a:srgbClr val="94A3B8"/>
                </a:solidFill>
              </a:defRPr>
            </a:pPr>
            <a:r>
              <a:t>DATA SOURCE</a:t>
            </a:r>
          </a:p>
          <a:p>
            <a:pPr>
              <a:spcBef>
                <a:spcPts val="400"/>
              </a:spcBef>
              <a:defRPr sz="900">
                <a:solidFill>
                  <a:srgbClr val="E5E7EB"/>
                </a:solidFill>
              </a:defRPr>
            </a:pPr>
            <a:r>
              <a:t>CMAPSSData · FD001–FD004 · Fleet test/train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24912" y="1325880"/>
            <a:ext cx="8963863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AE6FD"/>
                </a:solidFill>
                <a:latin typeface="Calibri"/>
              </a:defRPr>
            </a:pPr>
            <a:r>
              <a:t>Home — three engineering pillars</a:t>
            </a:r>
          </a:p>
          <a:p>
            <a:pPr>
              <a:lnSpc>
                <a:spcPct val="115000"/>
              </a:lnSpc>
              <a:spcBef>
                <a:spcPts val="800"/>
              </a:spcBef>
              <a:defRPr sz="1100">
                <a:solidFill>
                  <a:srgbClr val="E5E7EB"/>
                </a:solidFill>
                <a:latin typeface="Calibri"/>
              </a:defRPr>
            </a:pPr>
            <a:r>
              <a:t>Physical system insight — turbofan context, 26 channels per cycle, degradation in time series.</a:t>
            </a:r>
            <a:br/>
            <a:r>
              <a:t>Model trade-offs — CNN / Transformer vs PINN and hybrid stacks.</a:t>
            </a:r>
            <a:br/>
            <a:r>
              <a:t>Compute &amp; data reality — data quality, drift, deployment cost (GEMM, KV cache, quantization).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24912" y="3730752"/>
            <a:ext cx="1325880" cy="256032"/>
          </a:xfrm>
          <a:prstGeom prst="rect">
            <a:avLst/>
          </a:prstGeom>
          <a:solidFill>
            <a:srgbClr val="0F172A"/>
          </a:solidFill>
          <a:ln w="31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0F9FF"/>
                </a:solidFill>
              </a:defRPr>
            </a:pPr>
            <a:r>
              <a:t>Fleet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105656" y="3730752"/>
            <a:ext cx="1325880" cy="256032"/>
          </a:xfrm>
          <a:prstGeom prst="rect">
            <a:avLst/>
          </a:prstGeom>
          <a:solidFill>
            <a:srgbClr val="0F172A"/>
          </a:solidFill>
          <a:ln w="31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0">
                <a:solidFill>
                  <a:srgbClr val="94A3B8"/>
                </a:solidFill>
              </a:defRPr>
            </a:pPr>
            <a:r>
              <a:t>Exploratory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3730752"/>
            <a:ext cx="1325880" cy="256032"/>
          </a:xfrm>
          <a:prstGeom prst="rect">
            <a:avLst/>
          </a:prstGeom>
          <a:solidFill>
            <a:srgbClr val="0F172A"/>
          </a:solidFill>
          <a:ln w="31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0">
                <a:solidFill>
                  <a:srgbClr val="94A3B8"/>
                </a:solidFill>
              </a:defRPr>
            </a:pPr>
            <a:r>
              <a:t>Data audit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67144" y="3730752"/>
            <a:ext cx="1325880" cy="256032"/>
          </a:xfrm>
          <a:prstGeom prst="rect">
            <a:avLst/>
          </a:prstGeom>
          <a:solidFill>
            <a:srgbClr val="0F172A"/>
          </a:solidFill>
          <a:ln w="31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0">
                <a:solidFill>
                  <a:srgbClr val="94A3B8"/>
                </a:solidFill>
              </a:defRPr>
            </a:pPr>
            <a:r>
              <a:t>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7888" y="3730752"/>
            <a:ext cx="1325880" cy="256032"/>
          </a:xfrm>
          <a:prstGeom prst="rect">
            <a:avLst/>
          </a:prstGeom>
          <a:solidFill>
            <a:srgbClr val="0F172A"/>
          </a:solidFill>
          <a:ln w="31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0">
                <a:solidFill>
                  <a:srgbClr val="94A3B8"/>
                </a:solidFill>
              </a:defRPr>
            </a:pPr>
            <a:r>
              <a:t>DL lab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28632" y="3730752"/>
            <a:ext cx="1097280" cy="256032"/>
          </a:xfrm>
          <a:prstGeom prst="rect">
            <a:avLst/>
          </a:prstGeom>
          <a:solidFill>
            <a:srgbClr val="0F172A"/>
          </a:solidFill>
          <a:ln w="317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0">
                <a:solidFill>
                  <a:srgbClr val="94A3B8"/>
                </a:solidFill>
              </a:defRPr>
            </a:pPr>
            <a:r>
              <a:t>Compute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4142232"/>
          <a:ext cx="566928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24003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BAE6FD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BAE6FD"/>
                          </a:solidFill>
                        </a:defRPr>
                      </a:pPr>
                      <a:r>
                        <a:t>Student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Kodie Amo Kwame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LS2525226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Sumara Alfred Salifu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LS2525245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Peta Mimi Precious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</a:defRPr>
                      </a:pPr>
                      <a:r>
                        <a:t>LS2525255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5221224"/>
            <a:ext cx="111858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Public Streamlit app (for lecturer): </a:t>
            </a:r>
          </a:p>
          <a:p>
            <a:r>
              <a:rPr sz="1200" b="1">
                <a:solidFill>
                  <a:srgbClr val="38BDF8"/>
                </a:solidFill>
                <a:latin typeface="Calibri"/>
                <a:hlinkClick r:id="rId2"/>
              </a:rPr>
              <a:t>https://YOUR_APP_NAME.streamlit.app</a:t>
            </a:r>
          </a:p>
          <a:p>
            <a:pPr>
              <a:spcBef>
                <a:spcPts val="600"/>
              </a:spcBef>
              <a:defRPr sz="900">
                <a:solidFill>
                  <a:srgbClr val="94A3B8"/>
                </a:solidFill>
              </a:defRPr>
            </a:pPr>
            <a:r>
              <a:t>Beihang University · RCSSTEAP, China — Replace YOUR_APP_NAME in generate_submission_pptx.py if the link above is still a placeholder.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